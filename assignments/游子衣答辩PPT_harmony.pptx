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8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各位老师好，我今天答辩的项目叫“游子衣”，是一款专注于连接异地子女与老年父母、以亲情记录和见证为核心的数字陪伴平台。截至2025年底，中国60岁以上人口已达3.23亿，占总人口22.8%，其中空巢老人占比超过63%，接近2亿人。接下来我将从背景、产品、技术实现和部署四个方面展开汇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首先来看一组宏观数据。截至2024年底，中国60岁以上人口3.1亿，占总人口22.0%；65岁以上2.2亿，占15.6%——中国已正式进入中度老龄化社会。到2025年底，这一数字攀升至3.23亿。</a:t>
            </a:r>
          </a:p>
          <a:p/>
          <a:p>
            <a:r>
              <a:t>更值得关注的是家庭结构的裂变。独居老人比例达14.2%，完全独居的老人已突破3800万；空巢老人超过1亿，在部分大城市和农村，空巢比例甚至超过70%。</a:t>
            </a:r>
          </a:p>
          <a:p/>
          <a:p>
            <a:r>
              <a:t>2026年春运40天，全社会跨区域人员流动量达到94.1亿人次，创历史新高。春运越壮观，反衬出的真相越沉重：一年中绝大多数时间，子女与父母是分离的。</a:t>
            </a:r>
          </a:p>
          <a:p/>
          <a:p>
            <a:r>
              <a:t>76.7%的老人担心突发疾病时无子女在身边，74.3%担心无人料理紧急医疗或身后事。69%的老人表示'平时能说心里话的人不超过1个'。</a:t>
            </a:r>
          </a:p>
          <a:p/>
          <a:p>
            <a:r>
              <a:t>78.2%的60后认同'养儿防老'，但90后仅23.5%认同。当'养儿防老'的期待遇上'独立养老'的现实，中间的裂缝由谁来弥合？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我们采用'Web 网页端 + 微信小程序端'双端协同的设计。</a:t>
            </a:r>
          </a:p>
          <a:p/>
          <a:p>
            <a:r>
              <a:t>小程序端是MVP落地层，面向老年用户。这里我想分享一个极具参考价值的真实案例。2026年5月，杭州上城区南星街道——一个60岁以上老年人口占比高达44.4%的老龄化社区——推出了一款叫“在么在么”的平安签到小程序。创始人仅用1500元成本、一个月'手搓'完成开发，却精准戳中了上亿独居群体的安全焦虑。</a:t>
            </a:r>
          </a:p>
          <a:p/>
          <a:p>
            <a:r>
              <a:t>这个案例给了我们非常重要的产品启示：'大字体、简界面、少操作、高容错'的适老化设计原则。我们的核心只有三个入口：心情打卡、听孩子的话、以及天气瓶。零学习成本，真正为老人服务。</a:t>
            </a:r>
          </a:p>
          <a:p/>
          <a:p>
            <a:r>
              <a:t>Web端是大屏展示层，面向子女和答辩演示场景，重点做沉浸式的健康趋势可视化、城市天气瓶的3D动效，以及语音接龙的时光轴播放。两者共用同一个后端API，数据实时同步。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这是我们的第一大核心功能——状态同步与互动。</a:t>
            </a:r>
          </a:p>
          <a:p/>
          <a:p>
            <a:r>
              <a:t>老人在小程序端只需三步：选一个表情、填步数、提交——全程不到10秒。数据实时写入后端，子女在Web大屏上立刻看到：今天心情不错，走了3000步。</a:t>
            </a:r>
          </a:p>
          <a:p/>
          <a:p>
            <a:r>
              <a:t>子女也可以一键发送'拥抱'或一段简短语音，以全屏温情动效和语音播报的形式呈现在老人手机上，完成一次轻量但有温度的互动闭环。</a:t>
            </a:r>
          </a:p>
          <a:p/>
          <a:p>
            <a:r>
              <a:t>成年子女平均每天陪伴父母的时间仅32分钟。游子衣不能替代这32分钟，但它可以确保：即使在那32分钟之外，子女也能确认父母的状态。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第二个核心功能是超时无互动预警。</a:t>
            </a:r>
          </a:p>
          <a:p/>
          <a:p>
            <a:r>
              <a:t>76.7%的老人担心突发疾病时无子女在身边，这是最深层的安全焦虑。“在么在么”案例提供了成熟的产品参照：构建了“老人—APP—子女—社区—应急”五级联动守护机制，并为无智能手机的高龄老人配置实体安全扣。</a:t>
            </a:r>
          </a:p>
          <a:p/>
          <a:p>
            <a:r>
              <a:t>受此启发，游子衣设计了一套三级递进预警机制：</a:t>
            </a:r>
          </a:p>
          <a:p>
            <a:r>
              <a:t>第一级（24小时无互动）：系统向子女发送微信服务通知。</a:t>
            </a:r>
          </a:p>
          <a:p>
            <a:r>
              <a:t>第二级（36小时无互动）：强提醒弹窗，要求子女确认父母状态。</a:t>
            </a:r>
          </a:p>
          <a:p>
            <a:r>
              <a:t>第三级（48小时无互动）：短信通知社区网格员 + 语音告警电话。</a:t>
            </a:r>
          </a:p>
          <a:p/>
          <a:p>
            <a:r>
              <a:t>这套机制由后端Redis记录最后一次互动时间戳，结合定时任务扫描实现。正如羊城晚报评论所说：'技术工具只是第一道防线，社会支持网络才是真正的答案。'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第三个功能是城市天气瓶。这是产品中最具情感温度的设计模块。</a:t>
            </a:r>
          </a:p>
          <a:p/>
          <a:p>
            <a:r>
              <a:t>屏幕上并排展示两个精致的数字玻璃瓶，左边是老人所在城市，右边是子女所在城市。我们实时拉取两地天气数据，映射到瓶内动效——晴天有温暖的光影浮动，雨天有水滴沿玻璃滑落。</a:t>
            </a:r>
          </a:p>
          <a:p/>
          <a:p>
            <a:r>
              <a:t>子女还可以点击父母的天气瓶'注入阳光'或'送去一把伞'，老人端会同步看到瓶内特效变化——跨越物理距离传递关怀。</a:t>
            </a:r>
          </a:p>
          <a:p/>
          <a:p>
            <a:r>
              <a:t>在一个69%的老人说'平时能说心里话的人不超过1个'的时代，这样的轻量互动或许就是那一天的第1个。</a:t>
            </a:r>
          </a:p>
          <a:p/>
          <a:p>
            <a:r>
              <a:t>Web端用React Three Fiber实现高精度渲染，WebGL不支持时优雅降级为CSS动画，保证不崩溃。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第四个功能是家庭故事语音接龙。</a:t>
            </a:r>
          </a:p>
          <a:p/>
          <a:p>
            <a:r>
              <a:t>在一个成年子女每天仅陪伴父母32分钟、48%的老人大部分时间独处的时代，我们不只是做通讯工具，我们想做'记忆的容器'。</a:t>
            </a:r>
          </a:p>
          <a:p/>
          <a:p>
            <a:r>
              <a:t>系统每周推送一个引导话题，比如'记忆中最深刻的一道年夜饭'。老人按下麦克风，用最熟悉的方言或普通话讲述一段回忆；子女收到后，可以录下自己的回应。多段语音在Web端被串联成一条复古时光轴，可以添加背景音乐，最终导出为一段完整的家庭播客。</a:t>
            </a:r>
          </a:p>
          <a:p/>
          <a:p>
            <a:r>
              <a:t>这个功能的核心价值在于：它不只传递信息，而是在代际之间共同创作一段可以反复回味的家庭故事——当声音被时间沉淀，它就成了家族最宝贵的数字遗产。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简单说一下技术实现。</a:t>
            </a:r>
          </a:p>
          <a:p/>
          <a:p>
            <a:r>
              <a:t>后端用Node.js + Express，轻量但满足MVP需求；数据层用Prisma + SQLite，迁移到PostgreSQL平滑无痛；预警状态用Redis缓存双方最后互动时间，保证高频查询的低延迟。</a:t>
            </a:r>
          </a:p>
          <a:p/>
          <a:p>
            <a:r>
              <a:t>小程序原生开发，深度适老化定制——参照“在么在么”验证过的'大字体、简界面、少操作、高容错'原则，确保老年用户极低门槛。</a:t>
            </a:r>
          </a:p>
          <a:p/>
          <a:p>
            <a:r>
              <a:t>Web端React + TypeScript + Vite，3D天气瓶用React Three Fiber，图表用ECharts做健康趋势可视化。</a:t>
            </a:r>
          </a:p>
          <a:p/>
          <a:p>
            <a:r>
              <a:t>ArkTS鸿蒙版也在同步开发，进一步拓展适老场景的设备覆盖——响应国家'深化智慧健康养老应用示范'的政策导向。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目前服务器已完成ICP备案，后端Dockerfile就绪，可一键容器化部署。下一阶段配置Nginx反代与SSL证书后，公网即可访问。</a:t>
            </a:r>
          </a:p>
          <a:p/>
          <a:p>
            <a:r>
              <a:t>更重要的是，游子衣正站在国家政策的强劲风口上。</a:t>
            </a:r>
          </a:p>
          <a:p/>
          <a:p>
            <a:r>
              <a:t>第一，中共中央、国务院于2025年1月7日发布《关于深化养老服务改革发展的意见》，明确提出'研究设立养老服务相关国家科技重大项目，重点推动人形机器人、脑机接口、人工智能等技术产品研发应用'。游子衣的超时无互动预警机制，正是'居家养老安全风险预警'的典型实践。</a:t>
            </a:r>
          </a:p>
          <a:p/>
          <a:p>
            <a:r>
              <a:t>第二，工信部联合民政部于2025年5月26日启动智能养老服务机器人试点，聚焦五大场景：失能失智照护、情感陪护、健康促进、智慧环境、日常生活辅助。这五大场景中的情感陪护、健康促进、日常生活辅助，正是游子衣当前覆盖的核心价值。</a:t>
            </a:r>
          </a:p>
          <a:p/>
          <a:p>
            <a:r>
              <a:t>第三，民政部等8部门于2025年12月25日联合印发民发〔2025〕66号，要求'将大数据、云计算、人工智能运用到老年人健康监测、安全报警'。</a:t>
            </a:r>
          </a:p>
          <a:p/>
          <a:p>
            <a:r>
              <a:t>后续演进方向包括：接入真实天气API、完整预警通知链路、语音时长真实解析、OSS对象存储。中长期可探索与社区卫生服务站的数据对接。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484858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4800">
                <a:solidFill>
                  <a:srgbClr val="0284C7"/>
                </a:solidFill>
                <a:latin typeface="宋体" panose="02010600030101010101" pitchFamily="2" charset="-122"/>
              </a:defRPr>
            </a:pPr>
            <a:r>
              <a:t>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60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游子衣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0284C7"/>
                </a:solidFill>
                <a:latin typeface="宋体" panose="02010600030101010101" pitchFamily="2" charset="-122"/>
              </a:defRPr>
            </a:pPr>
            <a:r>
              <a:t>亲情的记录和见证之所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48056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——面向 3.23 亿老年人的数字陪伴平台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486400"/>
            <a:ext cx="12191695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bg1"/>
                </a:solidFill>
              </a:rPr>
              <a:t>https://www.youziyi.com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035040"/>
            <a:ext cx="12191695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游子衣 · 答辩汇报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65D"/>
                </a:solidFill>
                <a:latin typeface="宋体" panose="02010600030101010101" pitchFamily="2" charset="-122"/>
              </a:defRPr>
            </a:pPr>
            <a:r>
              <a:t>项目背景与痛点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349240" cy="23317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349240" cy="508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4983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🏷 人口宏观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5915"/>
            <a:ext cx="53492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6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3.23 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83155"/>
            <a:ext cx="4983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60岁以上人口 · 占全国 22.8%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8915"/>
            <a:ext cx="4892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独居老人比例 14.2%（突破 3800 万）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50083"/>
            <a:ext cx="4892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空巢老人超 1 亿 · 大城市空巢比例超 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1251"/>
            <a:ext cx="4892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中国独居人口 1.23 亿 → 2030 年达 1.5-2 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57880"/>
            <a:ext cx="4983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📊 国家统计局(2024-2025) · 第五次城乡老年人抽样调查 · 贝壳研究院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349240" cy="23317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5349240" cy="508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71600"/>
            <a:ext cx="4983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🏷 春运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597025"/>
            <a:ext cx="53492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6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94.1 亿人次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74265"/>
            <a:ext cx="4983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2026春运40天跨区域流动量 · 单日峰值3.8亿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40025"/>
            <a:ext cx="4892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国新办预测 95 亿人次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941193"/>
            <a:ext cx="4892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反向春运机票预订量 +84%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142361"/>
            <a:ext cx="4892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60 岁以上旅客出行量 +35%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62960"/>
            <a:ext cx="4983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📊 央视网/交通运输部(2026.3.14) · 国新办(2026.1.29)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886200"/>
            <a:ext cx="5349240" cy="23317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886200"/>
            <a:ext cx="5349240" cy="50800"/>
          </a:xfrm>
          <a:prstGeom prst="rect">
            <a:avLst/>
          </a:prstGeom>
          <a:solidFill>
            <a:srgbClr val="D96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023360"/>
            <a:ext cx="4983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🏷 老人困境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257675"/>
            <a:ext cx="53492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600" b="1">
                <a:solidFill>
                  <a:srgbClr val="D96459"/>
                </a:solidFill>
                <a:latin typeface="微软雅黑" panose="020B0503020204020204" charset="-122"/>
              </a:defRPr>
            </a:pPr>
            <a:r>
              <a:t>76.7%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034915"/>
            <a:ext cx="4983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担心突发疾病时无子女在身边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00675"/>
            <a:ext cx="4892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74.3% 担心无人料理紧急医疗或身后事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01843"/>
            <a:ext cx="4892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空巢老人占立遗嘱人群 61%（中华遗嘱库 2025）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03011"/>
            <a:ext cx="4892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69% 老人「能说心里话的人不超过 1 个」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014720"/>
            <a:ext cx="4983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📊 民政部/北京市老龄协会(2023) · 中华遗嘱库2025白皮书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886200"/>
            <a:ext cx="5349240" cy="23317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3886200"/>
            <a:ext cx="5349240" cy="5080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995928"/>
            <a:ext cx="4983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🏷 代际断层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38912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78.2%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4389120"/>
            <a:ext cx="457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vs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38912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5B8DB8"/>
                </a:solidFill>
                <a:latin typeface="微软雅黑" panose="020B0503020204020204" charset="-122"/>
              </a:defRPr>
            </a:pPr>
            <a:r>
              <a:t>23.5%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12064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60后 认同「养儿防老」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512064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90后 认同「养儿防老」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234180"/>
            <a:ext cx="4800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养儿防老认同度对比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486400"/>
            <a:ext cx="4800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成年子女日均陪伴仅 32 分钟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984240"/>
            <a:ext cx="4983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📊 《中国青年报》(2025) · 2026.5全国20城市老年群体抽样调查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📊 完整数据来源见附录——国家统计局 · 民政部 · 中华遗嘱库 · 贝壳研究院 · 央视网 · 中国青年报 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65D"/>
                </a:solidFill>
                <a:latin typeface="宋体" panose="02010600030101010101" pitchFamily="2" charset="-122"/>
              </a:defRPr>
            </a:pPr>
            <a:r>
              <a:t>产品架构——双端协同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658368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44168"/>
            <a:ext cx="6583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后端 API 服务 (Node.js + Prisma + Redis)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94560"/>
            <a:ext cx="3108960" cy="3474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94560"/>
            <a:ext cx="50800" cy="3474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rPr lang="zh-CN"/>
              <a:t>鸿蒙</a:t>
            </a:r>
            <a:r>
              <a:rPr lang="en-US" altLang="zh-CN"/>
              <a:t>APP</a:t>
            </a:r>
            <a:r>
              <a:rPr lang="zh-CN" altLang="en-US"/>
              <a:t>端</a:t>
            </a:r>
            <a:r>
              <a:t> · MVP 落地层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5315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😊 心情打卡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66795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🎵 听孩子的话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78275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🌤 天气瓶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42205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大字体 · 简界面 · 少操作 · 高容错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40" y="2194560"/>
            <a:ext cx="3108960" cy="3474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77640" y="2194560"/>
            <a:ext cx="50800" cy="3474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23317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Web 网页端 · 大屏展示层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16103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📊 健康趋势可视化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57251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🫙 3D 天气瓶动效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98399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🎙 语音时光轴播放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11320" y="4942205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沉浸体验：Three.js · ECharts · 全景大屏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6890" y="193040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◄ 数据实时同步 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1234440"/>
            <a:ext cx="4572000" cy="48920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0" y="1234440"/>
            <a:ext cx="50800" cy="48920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0" y="1371600"/>
            <a:ext cx="4206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🏆 同类案例：杭州“在么在么”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935480"/>
            <a:ext cx="1371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44.4%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1085" y="2423160"/>
            <a:ext cx="1550035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南星街道60岁以上占比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1960880"/>
            <a:ext cx="1371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1500 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4231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一个月“手搓”完成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1945640"/>
            <a:ext cx="1371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半个月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24231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敲定落户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0" y="335280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98080" y="2926080"/>
            <a:ext cx="50800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6680" y="3444240"/>
            <a:ext cx="3749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宋体" panose="02010600030101010101" pitchFamily="2" charset="-122"/>
              </a:defRPr>
            </a:pPr>
            <a:r>
              <a:t>“大字体、简界面、少操作、高容错”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80" y="3764280"/>
            <a:ext cx="3749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宋体" panose="02010600030101010101" pitchFamily="2" charset="-122"/>
              </a:defRPr>
            </a:pPr>
            <a:r>
              <a:t>“精准戳中上亿独居群体安全焦虑”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4460875"/>
            <a:ext cx="4023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老人 → APP → 子女 → 社区 → 应急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4780915"/>
            <a:ext cx="4023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五级联动守护机制 · SOS安全扣 5分钟响应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0" y="5816600"/>
            <a:ext cx="4206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📊 上城发布(2026.5.24) · 潮新闻(2026.5.25)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65D"/>
                </a:solidFill>
                <a:latin typeface="宋体" panose="02010600030101010101" pitchFamily="2" charset="-122"/>
              </a:defRPr>
            </a:pPr>
            <a:r>
              <a:t>核心功能 · 打卡与状态同步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02920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👴 老人端 · 小程序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783080"/>
            <a:ext cx="1325880" cy="50292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01368"/>
            <a:ext cx="1325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😊 开心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783080"/>
            <a:ext cx="1325880" cy="5029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801368"/>
            <a:ext cx="1325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😐 平静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783080"/>
            <a:ext cx="1325880" cy="5029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1801368"/>
            <a:ext cx="1325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😢 孤单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步数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31720" y="242316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23160" y="2441448"/>
            <a:ext cx="1645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3,000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74520" y="333756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74520" y="3430143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提交打卡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0233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3 步，10 秒，零学习成本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423160"/>
            <a:ext cx="1371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234440"/>
            <a:ext cx="530352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32588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👨‍💻 子女端 · Web 大屏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16520" y="1783080"/>
            <a:ext cx="2743200" cy="11887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99400" y="18745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😊 心情：开心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9400" y="224028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👣 步数：3,000 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9400" y="2606040"/>
            <a:ext cx="2377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🕐 今天 09:30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91120" y="3246120"/>
            <a:ext cx="1280160" cy="50292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16520" y="3341370"/>
            <a:ext cx="1280160" cy="40767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发送拥抱 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54160" y="3246120"/>
            <a:ext cx="1280160" cy="50292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79560" y="3264408"/>
            <a:ext cx="1280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录一段语音 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97764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实时同步 · 轻量互动 · 温情反馈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" y="4709160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846447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①  老人打卡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4846320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94760" y="4709160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4760" y="4846447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②  数据写入后端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4846320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29400" y="4709160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4846447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③  子女大屏实时更新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4846320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64040" y="4709160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64040" y="4846447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④  子女轻量反馈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6235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  <a:latin typeface="微软雅黑" panose="020B0503020204020204" charset="-122"/>
              </a:rPr>
              <a:t>成年子女日均陪伴父母仅 </a:t>
            </a:r>
            <a:r>
              <a:rPr sz="1400" b="1">
                <a:solidFill>
                  <a:srgbClr val="1A365D"/>
                </a:solidFill>
                <a:latin typeface="微软雅黑" panose="020B0503020204020204" charset="-122"/>
              </a:rPr>
              <a:t>32 分钟</a:t>
            </a:r>
            <a:r>
              <a:rPr sz="1400">
                <a:solidFill>
                  <a:srgbClr val="64748B"/>
                </a:solidFill>
                <a:latin typeface="微软雅黑" panose="020B0503020204020204" charset="-122"/>
              </a:rPr>
              <a:t>——游子衣确保 32 分钟之外也能确认父母状态</a:t>
            </a:r>
            <a:endParaRPr sz="140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65D"/>
                </a:solidFill>
                <a:latin typeface="宋体" panose="02010600030101010101" pitchFamily="2" charset="-122"/>
              </a:defRPr>
            </a:pPr>
            <a:r>
              <a:t>核心功能 · 超时无互动预警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在么在么 · 五级联动守护机制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13716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371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👴 老人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6459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554480"/>
            <a:ext cx="13716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600200"/>
            <a:ext cx="1371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📱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6459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1554480"/>
            <a:ext cx="13716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1600200"/>
            <a:ext cx="1371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👨‍👩‍👧 子女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1554480"/>
            <a:ext cx="13716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1600200"/>
            <a:ext cx="1371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🏘 社区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16459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1554480"/>
            <a:ext cx="13716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600200"/>
            <a:ext cx="1371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🚑 应急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057400"/>
            <a:ext cx="174561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D96459"/>
                </a:solidFill>
                <a:latin typeface="微软雅黑" panose="020B0503020204020204" charset="-122"/>
              </a:defRPr>
            </a:pPr>
            <a:r>
              <a:t>SOS安全扣 · 5分钟响应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2560320"/>
            <a:ext cx="329184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" y="2560320"/>
            <a:ext cx="50800" cy="1828800"/>
          </a:xfrm>
          <a:prstGeom prst="rect">
            <a:avLst/>
          </a:prstGeom>
          <a:solidFill>
            <a:srgbClr val="F0A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265176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0A860"/>
                </a:solidFill>
                <a:latin typeface="微软雅黑" panose="020B0503020204020204" charset="-122"/>
              </a:defRPr>
            </a:pPr>
            <a:r>
              <a:t>24h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1752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🟡 </a:t>
            </a:r>
            <a:r>
              <a:rPr lang="zh-CN"/>
              <a:t>鸿蒙</a:t>
            </a:r>
            <a:r>
              <a:t>服务通知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42900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“今天还没和父母互动，去看看吧”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3200400"/>
            <a:ext cx="502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09159" y="2560320"/>
            <a:ext cx="329184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09159" y="2560320"/>
            <a:ext cx="50800" cy="18288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92039" y="265176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36h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39" y="301752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🟠 强提醒弹窗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79" y="342900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要求子女确认父母状态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200400"/>
            <a:ext cx="502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D96459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58198" y="2560320"/>
            <a:ext cx="329184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58198" y="2560320"/>
            <a:ext cx="50800" cy="1828800"/>
          </a:xfrm>
          <a:prstGeom prst="rect">
            <a:avLst/>
          </a:prstGeom>
          <a:solidFill>
            <a:srgbClr val="D96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1078" y="265176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96459"/>
                </a:solidFill>
                <a:latin typeface="微软雅黑" panose="020B0503020204020204" charset="-122"/>
              </a:defRPr>
            </a:pPr>
            <a:r>
              <a:t>48h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78" y="301752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🔴 短信 + 语音告警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18" y="342900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短信通知社区网格员 + 语音告警电话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57200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F766E"/>
                </a:solidFill>
                <a:latin typeface="宋体" panose="02010600030101010101" pitchFamily="2" charset="-122"/>
              </a:defRPr>
            </a:pPr>
            <a:r>
              <a:t>“技术工具只是第一道防线，社会支持网络才是真正的答案。” —— 羊城晚报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120640"/>
            <a:ext cx="11183112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240147"/>
            <a:ext cx="11183112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后端 · Redis 过期回调 + Cron 定时任务扫描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85216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📊 民政部《老年人监护问题研究报告》(2023) · 上城发布/“在么在么”五级联动报道 · 羊城晚报评论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65D"/>
                </a:solidFill>
                <a:latin typeface="宋体" panose="02010600030101010101" pitchFamily="2" charset="-122"/>
              </a:defRPr>
            </a:pPr>
            <a:r>
              <a:t>核心功能 · 城市天气瓶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4114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0800" cy="1188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3749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双瓶并排展示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3657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左瓶 = 老人城市，右瓶 = 子女城市，实时天气映射瓶内动效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06040"/>
            <a:ext cx="4114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606040"/>
            <a:ext cx="50800" cy="1188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3749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跨越距离的互动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3657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子女点击“注入阳光 ☀️”或“送去一把伞 🌂”，老人端同步特效变化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77640"/>
            <a:ext cx="4114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977640"/>
            <a:ext cx="50800" cy="1188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069080"/>
            <a:ext cx="3749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三级优雅降级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3657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WebGL → CSS 动画 → 静态卡片，保证不崩溃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440680"/>
            <a:ext cx="3749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F766E"/>
                </a:solidFill>
                <a:latin typeface="宋体" panose="02010600030101010101" pitchFamily="2" charset="-122"/>
              </a:defRPr>
            </a:pPr>
            <a:r>
              <a:t>69% 的老人「能说心里话的人不超过 1 个」</a:t>
            </a:r>
            <a:br/>
            <a:r>
              <a:t>——轻量互动或许就是那一天的第 1 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1417320"/>
            <a:ext cx="2286000" cy="2926080"/>
          </a:xfrm>
          <a:prstGeom prst="roundRect">
            <a:avLst/>
          </a:prstGeom>
          <a:solidFill>
            <a:srgbClr val="52C0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16916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北京 · 老人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51460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22°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3375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☀️ 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1417320"/>
            <a:ext cx="2286000" cy="2926080"/>
          </a:xfrm>
          <a:prstGeom prst="roundRect">
            <a:avLst/>
          </a:prstGeom>
          <a:solidFill>
            <a:srgbClr val="ABC9F4"/>
          </a:solidFill>
          <a:ln w="25400">
            <a:solidFill>
              <a:srgbClr val="5B8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16916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深圳 · 子女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51460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5B8DB8"/>
                </a:solidFill>
                <a:latin typeface="微软雅黑" panose="020B0503020204020204" charset="-122"/>
              </a:defRPr>
            </a:pPr>
            <a:r>
              <a:t>28°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3375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🌧 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52628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React Three Fiber 高精度渲染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4983479"/>
            <a:ext cx="6400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降级策略：3D → CSS 动画 → 静态卡片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217920"/>
            <a:ext cx="9144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📊 69% 数据来源：2026年5月全国20城市老年群体抽样调查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65D"/>
                </a:solidFill>
                <a:latin typeface="宋体" panose="02010600030101010101" pitchFamily="2" charset="-122"/>
              </a:defRPr>
            </a:pPr>
            <a:r>
              <a:t>核心功能 · 家庭故事语音接龙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成年子女日均陪伴仅 32 分钟 · 48% 老人大部分时间独处——我们想做「记忆的容器」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502920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👴 老人端 · 录音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20" y="228600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D96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440" y="2363978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🎤 按住录音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0896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E293B"/>
                </a:solidFill>
                <a:latin typeface="宋体" panose="02010600030101010101" pitchFamily="2" charset="-122"/>
              </a:defRPr>
            </a:pPr>
            <a:r>
              <a:t>话题：“记忆中最深刻的一道年夜饭”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530352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3736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👨‍💻 子女端 · 回应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2194560"/>
            <a:ext cx="3657600" cy="5029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2212848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🔊 奶奶的语音消息 · 1:23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3017520"/>
            <a:ext cx="2286000" cy="50292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69860" y="3085973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🎤 录制回应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617720"/>
            <a:ext cx="11183112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783080" y="4526280"/>
            <a:ext cx="182880" cy="182880"/>
          </a:xfrm>
          <a:prstGeom prst="ellipse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25196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奶奶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800600"/>
            <a:ext cx="1280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1:23</a:t>
            </a:r>
          </a:p>
        </p:txBody>
      </p:sp>
      <p:sp>
        <p:nvSpPr>
          <p:cNvPr id="21" name="Oval 20"/>
          <p:cNvSpPr/>
          <p:nvPr/>
        </p:nvSpPr>
        <p:spPr>
          <a:xfrm>
            <a:off x="3886200" y="4526280"/>
            <a:ext cx="182880" cy="182880"/>
          </a:xfrm>
          <a:prstGeom prst="ellipse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425196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爸爸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4800600"/>
            <a:ext cx="1280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0:45</a:t>
            </a:r>
          </a:p>
        </p:txBody>
      </p:sp>
      <p:sp>
        <p:nvSpPr>
          <p:cNvPr id="24" name="Oval 23"/>
          <p:cNvSpPr/>
          <p:nvPr/>
        </p:nvSpPr>
        <p:spPr>
          <a:xfrm>
            <a:off x="5989320" y="4526280"/>
            <a:ext cx="182880" cy="182880"/>
          </a:xfrm>
          <a:prstGeom prst="ellipse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425196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妈妈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4800600"/>
            <a:ext cx="1280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1:05</a:t>
            </a:r>
          </a:p>
        </p:txBody>
      </p:sp>
      <p:sp>
        <p:nvSpPr>
          <p:cNvPr id="27" name="Oval 26"/>
          <p:cNvSpPr/>
          <p:nvPr/>
        </p:nvSpPr>
        <p:spPr>
          <a:xfrm>
            <a:off x="8092440" y="4526280"/>
            <a:ext cx="182880" cy="182880"/>
          </a:xfrm>
          <a:prstGeom prst="ellipse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425196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女儿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4800600"/>
            <a:ext cx="1280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0:58</a:t>
            </a:r>
          </a:p>
        </p:txBody>
      </p:sp>
      <p:sp>
        <p:nvSpPr>
          <p:cNvPr id="30" name="Oval 29"/>
          <p:cNvSpPr/>
          <p:nvPr/>
        </p:nvSpPr>
        <p:spPr>
          <a:xfrm>
            <a:off x="10195560" y="4526280"/>
            <a:ext cx="182880" cy="18288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6920" y="425196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🎵 导出播客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51206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0">
                <a:solidFill>
                  <a:srgbClr val="0F766E"/>
                </a:solidFill>
                <a:latin typeface="宋体" panose="02010600030101010101" pitchFamily="2" charset="-122"/>
              </a:defRPr>
            </a:pPr>
            <a:r>
              <a:t>不只是通信，而是代际共同创作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65D"/>
                </a:solidFill>
                <a:latin typeface="宋体" panose="02010600030101010101" pitchFamily="2" charset="-122"/>
              </a:defRPr>
            </a:pPr>
            <a:r>
              <a:t>技术架构与实现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9601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前端层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280160"/>
            <a:ext cx="7406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小程序 · 原生开发  |  Web · React + TypeScript + Vite  |  鸿蒙 · ArkTS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645920"/>
            <a:ext cx="7406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参照「在么在么」验证原则：大字体 · 简界面 · 少操作 · 高容错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14884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31720"/>
            <a:ext cx="9601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7744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3D &amp; 可视化层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377440"/>
            <a:ext cx="7406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React Three Fiber · 天气瓶高精度渲染  |  ECharts · 健康数据图表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2461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429000"/>
            <a:ext cx="96012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7472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后端服务层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3474720"/>
            <a:ext cx="7406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Node.js + Express · Prisma ORM · Redis 缓存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434340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526280"/>
            <a:ext cx="96012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57200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572000"/>
            <a:ext cx="7406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SQLite（开发） → PostgreSQL（生产） · 阿里云 OSS 对象存储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234440"/>
            <a:ext cx="2011680" cy="457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跨端共享</a:t>
            </a:r>
            <a:br/>
            <a:r>
              <a:t>packages/shared</a:t>
            </a:r>
            <a:br/>
            <a:r>
              <a:t>packages/types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65D"/>
                </a:solidFill>
                <a:latin typeface="宋体" panose="02010600030101010101" pitchFamily="2" charset="-122"/>
              </a:defRPr>
            </a:pPr>
            <a:r>
              <a:t>部署现状与政策风口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3200400" cy="45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部署现状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已完成 ICP 备案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7180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已配置：Nginx 反向代理与域名绑定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✅</a:t>
            </a:r>
            <a:endParaRPr>
              <a:sym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34440" y="416052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10B981"/>
                </a:solidFill>
              </a:rPr>
              <a:t>生产环境：原生依赖直装</a:t>
            </a:r>
            <a:br>
              <a:rPr>
                <a:solidFill>
                  <a:srgbClr val="10B981"/>
                </a:solidFill>
              </a:rPr>
            </a:br>
            <a:r>
              <a:rPr>
                <a:solidFill>
                  <a:srgbClr val="10B981"/>
                </a:solidFill>
              </a:rPr>
              <a:t>+ PM2 守护进程</a:t>
            </a:r>
            <a:endParaRPr>
              <a:solidFill>
                <a:srgbClr val="10B98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534924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访问地址: https://www.youziyi.com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2344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政策东风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1645920"/>
            <a:ext cx="4846320" cy="12344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0" y="1645920"/>
            <a:ext cx="38100" cy="12344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60" y="169164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📜 中共中央 国务院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187452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《关于深化养老服务改革发展的意见》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210312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宋体" panose="02010600030101010101" pitchFamily="2" charset="-122"/>
              </a:defRPr>
            </a:pPr>
            <a:r>
              <a:t>“研究设立养老服务相关国家科技重大项目，重点推动人形机器人、脑机接口、人工智能等技术产品研发应用”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251460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→ 游子衣超时预警 = 居家养老安全风险预警实践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017520"/>
            <a:ext cx="4846320" cy="12344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0" y="3017520"/>
            <a:ext cx="38100" cy="1234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4760" y="306324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📜 工信部 + 民政部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24612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《智能养老服务机器人试点》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347472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宋体" panose="02010600030101010101" pitchFamily="2" charset="-122"/>
              </a:defRPr>
            </a:pPr>
            <a:r>
              <a:t>“聚焦失能失智照护、情感陪护、健康促进、智慧环境、日常生活辅助五大场景”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88620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→ 游子衣覆盖情感陪护 + 健康促进 + 日常辅助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0" y="4389120"/>
            <a:ext cx="4846320" cy="12344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0" y="4389120"/>
            <a:ext cx="38100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4760" y="443484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📜 民政部等 8 部门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61772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《培育养老服务经营主体》民发〔2025〕66号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484632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宋体" panose="02010600030101010101" pitchFamily="2" charset="-122"/>
              </a:defRPr>
            </a:pPr>
            <a:r>
              <a:t>“将大数据、云计算、人工智能运用到老年人健康监测、安全报警”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525780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→ 心情打卡 + 步数追踪 + 预警 = 健康监测 + 安全报警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78240" y="1234440"/>
            <a:ext cx="3108960" cy="45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0" y="13258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演进路线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178308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🔗 接入真实天气 API</a:t>
            </a:r>
            <a:br/>
            <a:r>
              <a:t>  （替换 mock 数据）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269748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📡 完整预警通知链路</a:t>
            </a:r>
            <a:br/>
            <a:r>
              <a:t>  （服务通知→短信→语音）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61188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⏱ 语音时长真实解析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452628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☁ OSS 对象存储</a:t>
            </a:r>
            <a:br/>
            <a:r>
              <a:t>  （替代本地文件存储）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52578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0F766E"/>
                </a:solidFill>
                <a:latin typeface="微软雅黑" panose="020B0503020204020204" charset="-122"/>
              </a:defRPr>
            </a:pPr>
            <a:r>
              <a:t>中长期：探索与社区卫生服务站数据对接 → 线上到线下完整守护闭环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126480"/>
            <a:ext cx="10972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📊 政策来源：中共中央/国务院(gov.cn) · 民政部(mca.gov.cn) · 工信部(miit.gov.cn) · 国新办(scio.gov.cn)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65D"/>
                </a:solidFill>
                <a:latin typeface="宋体" panose="02010600030101010101" pitchFamily="2" charset="-122"/>
              </a:defRPr>
            </a:pPr>
            <a:r>
              <a:t>团队分工与项目总结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前期开题与灵感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41148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50800" cy="1371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3749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游子衣产品前期的开题工作和灵感是由以下成员共同完成：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3749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👨‍💻 杨云天 · 刘至晗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乔钰成</a:t>
            </a:r>
            <a:endParaRPr lang="zh-CN"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74920" y="1234440"/>
            <a:ext cx="661385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完整项目结构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600200"/>
            <a:ext cx="6613855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74920" y="1600200"/>
            <a:ext cx="50800" cy="3200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57800" y="178308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23560" y="178308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1. 项目背景与问题发现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7800" y="228600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228600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2. 用户需求分析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278892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60" y="27889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3. 产品解决方案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57800" y="329184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60" y="329184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4. 产品原型展示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57800" y="379476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379476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5. Demo 演示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178308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178308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6. 商业模式设计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228600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228600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7. 市场分析与竞争分析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278892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27889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8. 技术架构介绍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329184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9640" y="329184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9. 团队分工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80" y="379476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379476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10. 项目总结与未来规划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349240"/>
            <a:ext cx="111858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通过明确的团队分工与清晰的项目结构，我们从真实的用户痛点出发，最终落地为完整的双端产品与商业化方案。</a:t>
            </a:r>
          </a:p>
        </p:txBody>
      </p:sp>
      <p:sp>
        <p:nvSpPr>
          <p:cNvPr id="34" name="TextBox 4"/>
          <p:cNvSpPr txBox="1"/>
          <p:nvPr/>
        </p:nvSpPr>
        <p:spPr>
          <a:xfrm>
            <a:off x="502920" y="3328035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rPr lang="zh-CN"/>
              <a:t>产品开发与</a:t>
            </a:r>
            <a:r>
              <a:rPr lang="zh-CN"/>
              <a:t>落地</a:t>
            </a:r>
            <a:endParaRPr lang="zh-CN"/>
          </a:p>
        </p:txBody>
      </p:sp>
      <p:sp>
        <p:nvSpPr>
          <p:cNvPr id="35" name="Rounded Rectangle 5"/>
          <p:cNvSpPr/>
          <p:nvPr/>
        </p:nvSpPr>
        <p:spPr>
          <a:xfrm>
            <a:off x="553720" y="3703320"/>
            <a:ext cx="41148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>
                <a:sym typeface="+mn-ea"/>
              </a:rPr>
              <a:t>乔钰成</a:t>
            </a:r>
            <a:endParaRPr lang="zh-CN">
              <a:sym typeface="+mn-ea"/>
            </a:endParaRPr>
          </a:p>
        </p:txBody>
      </p:sp>
      <p:sp>
        <p:nvSpPr>
          <p:cNvPr id="36" name="Rectangle 6"/>
          <p:cNvSpPr/>
          <p:nvPr/>
        </p:nvSpPr>
        <p:spPr>
          <a:xfrm>
            <a:off x="502920" y="3703320"/>
            <a:ext cx="50800" cy="1371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8"/>
          <p:cNvSpPr txBox="1"/>
          <p:nvPr/>
        </p:nvSpPr>
        <p:spPr>
          <a:xfrm>
            <a:off x="685800" y="4478655"/>
            <a:ext cx="3749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👨‍💻 </a:t>
            </a:r>
            <a:r>
              <a:rPr lang="zh-CN"/>
              <a:t>乔钰成</a:t>
            </a:r>
            <a:r>
              <a:rPr lang="en-US" altLang="zh-CN"/>
              <a:t> </a:t>
            </a:r>
            <a:r>
              <a:rPr>
                <a:sym typeface="+mn-ea"/>
              </a:rPr>
              <a:t>·</a:t>
            </a:r>
            <a:r>
              <a:rPr lang="en-US">
                <a:sym typeface="+mn-ea"/>
              </a:rPr>
              <a:t> </a:t>
            </a:r>
            <a:r>
              <a:rPr lang="zh-CN" altLang="en-US">
                <a:sym typeface="+mn-ea"/>
              </a:rPr>
              <a:t>赵奕轩（鸿蒙前端）</a:t>
            </a:r>
            <a:r>
              <a:t> </a:t>
            </a:r>
          </a:p>
        </p:txBody>
      </p:sp>
      <p:sp>
        <p:nvSpPr>
          <p:cNvPr id="38" name="TextBox 7"/>
          <p:cNvSpPr txBox="1"/>
          <p:nvPr/>
        </p:nvSpPr>
        <p:spPr>
          <a:xfrm>
            <a:off x="685800" y="3958590"/>
            <a:ext cx="3749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游子衣产品</a:t>
            </a:r>
            <a:r>
              <a:rPr lang="zh-CN"/>
              <a:t>开发与落地</a:t>
            </a:r>
            <a:r>
              <a:t>由</a:t>
            </a:r>
            <a:r>
              <a:rPr lang="zh-CN"/>
              <a:t>乔钰成</a:t>
            </a:r>
            <a:r>
              <a:rPr lang="en-US" altLang="zh-CN"/>
              <a:t>&amp;</a:t>
            </a:r>
            <a:r>
              <a:rPr lang="zh-CN" altLang="en-US"/>
              <a:t>赵奕轩共同</a:t>
            </a:r>
            <a:r>
              <a:t>完成：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65D"/>
                </a:solidFill>
                <a:latin typeface="宋体" panose="02010600030101010101" pitchFamily="2" charset="-122"/>
              </a:defRPr>
            </a:pPr>
            <a:r>
              <a:t>附录：全部数据引用来源汇总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一、人口宏观数据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1. 国家统计局 - 2024/2025年国民经济和社会发展统计公报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2. 第五/四次中国城乡老年人生活状况抽样调查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3. 贝壳研究院 - 《新独居时代报告》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774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二、老人困境数据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517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1. 民政部/北京市老龄协会 - 《老年人监护问题研究报告》(2023)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803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2. 中华遗嘱库 - 2025年度白皮书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089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3. 2026年5月全国20城市老年群体抽样调查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375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4. 《中国青年报》 - 代际养老观念调查(2025)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490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三、春运/异地分居数据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233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1. 央视网/交通运输部 - 2026年春运数据发布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519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2. 国新办发布会 - 国家发改委2026春运预测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4805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3. 某旅行平台 - 反向春运机票与60岁以上出行数据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12344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四、国家政策支持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15087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1. 中共中央 国务院 - 《关于深化养老服务改革发展的意见》(2025)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7373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2. 民政部等8部门 - 《关于培育养老服务经营主体 促进银发经济发展的若干措施》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19659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3. 工信部+民政部 - 《智能养老服务机器人结对攻关与场景应用试点》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23774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五、同类案例参考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6517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1. 上城发布 / 潮新闻 - 杭州上城区南星街道适老化实践（“在么在么”）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8803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2. 羊城晚报 / 齐鲁壹点 - 技术工具与社会支持网络及SOS机制报道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6217920"/>
            <a:ext cx="12191695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产品访问地址: https://www.youziyi.com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3657</Words>
  <Application>WPS 演示</Application>
  <PresentationFormat>On-screen Show (4:3)</PresentationFormat>
  <Paragraphs>488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maggie</cp:lastModifiedBy>
  <cp:revision>12</cp:revision>
  <dcterms:created xsi:type="dcterms:W3CDTF">2013-01-27T09:14:00Z</dcterms:created>
  <dcterms:modified xsi:type="dcterms:W3CDTF">2026-06-23T10:40:40Z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2052-12.1.0.26884</vt:lpwstr>
  </property>
  <property fmtid="{D5CDD505-2E9C-101B-9397-08002B2CF9AE}" pid="3" name="ICV">
    <vt:lpwstr>D42B2C1BC02544D9B3EF0B03D3727D41_12</vt:lpwstr>
  </property>
</Properties>
</file>